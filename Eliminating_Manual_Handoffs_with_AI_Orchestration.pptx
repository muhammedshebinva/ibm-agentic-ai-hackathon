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handoutMasterIdLst>
    <p:handoutMasterId r:id="rId14"/>
  </p:handoutMasterIdLst>
  <p:sldIdLst>
    <p:sldId id="266" r:id="rId5"/>
    <p:sldId id="309" r:id="rId6"/>
    <p:sldId id="310" r:id="rId7"/>
    <p:sldId id="311" r:id="rId8"/>
    <p:sldId id="312" r:id="rId9"/>
    <p:sldId id="317" r:id="rId10"/>
    <p:sldId id="318" r:id="rId11"/>
    <p:sldId id="313" r:id="rId12"/>
    <p:sldId id="31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1E0"/>
    <a:srgbClr val="193EA6"/>
    <a:srgbClr val="FE7D5E"/>
    <a:srgbClr val="FFC13D"/>
    <a:srgbClr val="00D1A4"/>
    <a:srgbClr val="FFFFFF"/>
    <a:srgbClr val="0AB6F5"/>
    <a:srgbClr val="204E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6" d="100"/>
          <a:sy n="76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3168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tableStyles" Target="tableStyles.xml" /><Relationship Id="rId3" Type="http://schemas.openxmlformats.org/officeDocument/2006/relationships/customXml" Target="../customXml/item3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theme" Target="theme/theme1.xml" /><Relationship Id="rId2" Type="http://schemas.openxmlformats.org/officeDocument/2006/relationships/customXml" Target="../customXml/item2.xml" /><Relationship Id="rId16" Type="http://schemas.openxmlformats.org/officeDocument/2006/relationships/viewProps" Target="viewProp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presProps" Target="presProps.xml" /><Relationship Id="rId10" Type="http://schemas.openxmlformats.org/officeDocument/2006/relationships/slide" Target="slides/slide6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handoutMaster" Target="handoutMasters/handoutMaster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165729-4A5D-A8C9-0DAC-1AFD5FA38F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CF7C4-6021-79D0-1BAC-7772ACC0D9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F3F16-BE18-4640-AB30-FC13E930574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94322-E348-B9A0-E46A-21E80ACAAF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02A4F-C6B2-5B87-1EBD-816D8CCDA8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E3E51-59D2-4571-B3FD-ED907D1C3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772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574186"/>
            <a:ext cx="10058400" cy="484748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677949"/>
            <a:ext cx="10058400" cy="419114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slideLayout" Target="../slideLayouts/slideLayout1.xml" /><Relationship Id="rId1" Type="http://schemas.openxmlformats.org/officeDocument/2006/relationships/themeOverride" Target="../theme/themeOverride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1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2.xml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 /><Relationship Id="rId13" Type="http://schemas.openxmlformats.org/officeDocument/2006/relationships/image" Target="../media/image20.png" /><Relationship Id="rId3" Type="http://schemas.openxmlformats.org/officeDocument/2006/relationships/image" Target="../media/image10.png" /><Relationship Id="rId7" Type="http://schemas.openxmlformats.org/officeDocument/2006/relationships/image" Target="../media/image14.png" /><Relationship Id="rId12" Type="http://schemas.openxmlformats.org/officeDocument/2006/relationships/image" Target="../media/image19.png" /><Relationship Id="rId2" Type="http://schemas.openxmlformats.org/officeDocument/2006/relationships/slideLayout" Target="../slideLayouts/slideLayout2.xml" /><Relationship Id="rId1" Type="http://schemas.openxmlformats.org/officeDocument/2006/relationships/tags" Target="../tags/tag3.xml" /><Relationship Id="rId6" Type="http://schemas.openxmlformats.org/officeDocument/2006/relationships/image" Target="../media/image13.png" /><Relationship Id="rId11" Type="http://schemas.openxmlformats.org/officeDocument/2006/relationships/image" Target="../media/image18.png" /><Relationship Id="rId5" Type="http://schemas.openxmlformats.org/officeDocument/2006/relationships/image" Target="../media/image12.png" /><Relationship Id="rId15" Type="http://schemas.openxmlformats.org/officeDocument/2006/relationships/image" Target="../media/image22.png" /><Relationship Id="rId10" Type="http://schemas.openxmlformats.org/officeDocument/2006/relationships/image" Target="../media/image17.png" /><Relationship Id="rId4" Type="http://schemas.openxmlformats.org/officeDocument/2006/relationships/image" Target="../media/image11.png" /><Relationship Id="rId9" Type="http://schemas.openxmlformats.org/officeDocument/2006/relationships/image" Target="../media/image16.png" /><Relationship Id="rId14" Type="http://schemas.openxmlformats.org/officeDocument/2006/relationships/image" Target="../media/image21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7" Type="http://schemas.openxmlformats.org/officeDocument/2006/relationships/image" Target="../media/image28.jpeg" /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7.png" /><Relationship Id="rId5" Type="http://schemas.openxmlformats.org/officeDocument/2006/relationships/image" Target="../media/image26.jpeg" /><Relationship Id="rId4" Type="http://schemas.openxmlformats.org/officeDocument/2006/relationships/image" Target="../media/image25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1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/>
          </a:bodyPr>
          <a:lstStyle/>
          <a:p>
            <a:r>
              <a:rPr lang="en-US" dirty="0"/>
              <a:t>Eliminating Manual Handoffs with AI Orchestration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 fontScale="92500" lnSpcReduction="10000"/>
          </a:bodyPr>
          <a:lstStyle/>
          <a:p>
            <a:r>
              <a:rPr lang="en-US" cap="none" dirty="0"/>
              <a:t>Automated Incident Assignment for First-time Accuracy</a:t>
            </a:r>
          </a:p>
          <a:p>
            <a:r>
              <a:rPr lang="en-US" cap="none" dirty="0"/>
              <a:t>Leveraging Watsonx Orchestrate and RAG to Ensure Precise First-time Routing and Replace Broken Processes.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3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9B6ACC-8129-6967-D458-190EB522F3B6}"/>
              </a:ext>
            </a:extLst>
          </p:cNvPr>
          <p:cNvSpPr txBox="1"/>
          <p:nvPr/>
        </p:nvSpPr>
        <p:spPr>
          <a:xfrm>
            <a:off x="6805053" y="5898382"/>
            <a:ext cx="228870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dirty="0"/>
              <a:t>TEAM: TKE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5FA6E8-69EA-6AC8-B5A4-10790B71A76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3662" y="-99117"/>
            <a:ext cx="3428339" cy="210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967"/>
    </mc:Choice>
    <mc:Fallback xmlns="">
      <p:transition spd="slow" advTm="3096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07E8-35EA-03FD-7721-C8A3DAE19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545" y="89438"/>
            <a:ext cx="10211135" cy="969496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Challenge: The Silent Productivity Killer &gt; Miss-Routed Incidents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DC7FD5-674B-5402-E16A-24FC785A6C4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6913" y="1677950"/>
            <a:ext cx="11098174" cy="8542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E15268-24A8-1ACE-530D-99D2FD86CFC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6913" y="2679789"/>
            <a:ext cx="11098174" cy="854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B2091-4A12-FE76-3A0A-E6D9C5E9522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6913" y="3778180"/>
            <a:ext cx="11098174" cy="7576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C89282-B614-941C-3312-0682A4E0B3A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6913" y="4780018"/>
            <a:ext cx="11098174" cy="7576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582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290"/>
    </mc:Choice>
    <mc:Fallback xmlns="">
      <p:transition spd="slow" advTm="592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A411B-FE14-A0AB-9108-D61AD82AA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00" y="89438"/>
            <a:ext cx="10209600" cy="969496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Eliminate Functional Escalation with Intelligent Triage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3A03FB5-9B63-3C38-0895-D2A911223223}"/>
              </a:ext>
            </a:extLst>
          </p:cNvPr>
          <p:cNvGrpSpPr/>
          <p:nvPr/>
        </p:nvGrpSpPr>
        <p:grpSpPr>
          <a:xfrm>
            <a:off x="1647700" y="1677950"/>
            <a:ext cx="5285663" cy="1751050"/>
            <a:chOff x="1647700" y="1677950"/>
            <a:chExt cx="5285663" cy="175105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FA81118-6824-A579-7327-1E51E4BB5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7700" y="2296474"/>
              <a:ext cx="3439005" cy="828791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51F84B8-1C42-53ED-602D-137E2354A7DE}"/>
                </a:ext>
              </a:extLst>
            </p:cNvPr>
            <p:cNvGrpSpPr/>
            <p:nvPr/>
          </p:nvGrpSpPr>
          <p:grpSpPr>
            <a:xfrm>
              <a:off x="5265337" y="1677950"/>
              <a:ext cx="1668026" cy="1751050"/>
              <a:chOff x="5265337" y="1677950"/>
              <a:chExt cx="1668026" cy="1751050"/>
            </a:xfrm>
          </p:grpSpPr>
          <p:sp>
            <p:nvSpPr>
              <p:cNvPr id="6" name="Arrow: Up 5">
                <a:extLst>
                  <a:ext uri="{FF2B5EF4-FFF2-40B4-BE49-F238E27FC236}">
                    <a16:creationId xmlns:a16="http://schemas.microsoft.com/office/drawing/2014/main" id="{F9D1DE5F-3F45-5601-607B-466FD1449B00}"/>
                  </a:ext>
                </a:extLst>
              </p:cNvPr>
              <p:cNvSpPr/>
              <p:nvPr/>
            </p:nvSpPr>
            <p:spPr>
              <a:xfrm>
                <a:off x="5265337" y="1677950"/>
                <a:ext cx="1668026" cy="1751050"/>
              </a:xfrm>
              <a:prstGeom prst="upArrow">
                <a:avLst>
                  <a:gd name="adj1" fmla="val 50000"/>
                  <a:gd name="adj2" fmla="val 60843"/>
                </a:avLst>
              </a:prstGeom>
              <a:solidFill>
                <a:srgbClr val="204E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F9722B-8E2D-CBE7-53DF-052B600FFB1F}"/>
                  </a:ext>
                </a:extLst>
              </p:cNvPr>
              <p:cNvSpPr txBox="1"/>
              <p:nvPr/>
            </p:nvSpPr>
            <p:spPr>
              <a:xfrm>
                <a:off x="5888334" y="2392707"/>
                <a:ext cx="4119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3600" b="1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284AD8-06A9-A3E8-8EBF-88BA946D71CA}"/>
              </a:ext>
            </a:extLst>
          </p:cNvPr>
          <p:cNvGrpSpPr/>
          <p:nvPr/>
        </p:nvGrpSpPr>
        <p:grpSpPr>
          <a:xfrm>
            <a:off x="5692392" y="3507918"/>
            <a:ext cx="4807802" cy="974690"/>
            <a:chOff x="5692392" y="3507918"/>
            <a:chExt cx="4807802" cy="9746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F4064A9-B105-4309-5F3D-02D5A02A2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703926" y="3563184"/>
              <a:ext cx="3796268" cy="86415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F4923A5-A3F5-4E5F-F011-43F32D7F51EF}"/>
                </a:ext>
              </a:extLst>
            </p:cNvPr>
            <p:cNvGrpSpPr/>
            <p:nvPr/>
          </p:nvGrpSpPr>
          <p:grpSpPr>
            <a:xfrm>
              <a:off x="5692392" y="3507918"/>
              <a:ext cx="813917" cy="974690"/>
              <a:chOff x="5692392" y="3507918"/>
              <a:chExt cx="813917" cy="97469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B063AF7-3F28-1EBB-7545-4766413A54FE}"/>
                  </a:ext>
                </a:extLst>
              </p:cNvPr>
              <p:cNvSpPr/>
              <p:nvPr/>
            </p:nvSpPr>
            <p:spPr>
              <a:xfrm>
                <a:off x="5692392" y="3507918"/>
                <a:ext cx="813917" cy="974690"/>
              </a:xfrm>
              <a:prstGeom prst="rect">
                <a:avLst/>
              </a:prstGeom>
              <a:solidFill>
                <a:srgbClr val="0AB6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C8ED32-B44C-EA08-0D3F-D8C04E26461A}"/>
                  </a:ext>
                </a:extLst>
              </p:cNvPr>
              <p:cNvSpPr txBox="1"/>
              <p:nvPr/>
            </p:nvSpPr>
            <p:spPr>
              <a:xfrm>
                <a:off x="5890009" y="3637564"/>
                <a:ext cx="4119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3600" b="1" dirty="0"/>
                  <a:t>2</a:t>
                </a: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B96694A-8952-57B1-76D5-E8BEBD875C80}"/>
              </a:ext>
            </a:extLst>
          </p:cNvPr>
          <p:cNvGrpSpPr/>
          <p:nvPr/>
        </p:nvGrpSpPr>
        <p:grpSpPr>
          <a:xfrm>
            <a:off x="1469069" y="4427342"/>
            <a:ext cx="5037240" cy="1108874"/>
            <a:chOff x="1469069" y="4427342"/>
            <a:chExt cx="5037240" cy="11088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F7E777-0784-DCAA-48E9-75D4C08D6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69069" y="4427342"/>
              <a:ext cx="3796268" cy="919424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C9FB4A1-6EDF-78BE-E865-558A598087CB}"/>
                </a:ext>
              </a:extLst>
            </p:cNvPr>
            <p:cNvGrpSpPr/>
            <p:nvPr/>
          </p:nvGrpSpPr>
          <p:grpSpPr>
            <a:xfrm>
              <a:off x="5692392" y="4561526"/>
              <a:ext cx="813917" cy="974690"/>
              <a:chOff x="5692392" y="4561526"/>
              <a:chExt cx="813917" cy="97469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3207E1-AADF-AB38-5C8B-D98920A7158B}"/>
                  </a:ext>
                </a:extLst>
              </p:cNvPr>
              <p:cNvSpPr/>
              <p:nvPr/>
            </p:nvSpPr>
            <p:spPr>
              <a:xfrm>
                <a:off x="5692392" y="4561526"/>
                <a:ext cx="813917" cy="974690"/>
              </a:xfrm>
              <a:prstGeom prst="rect">
                <a:avLst/>
              </a:prstGeom>
              <a:solidFill>
                <a:srgbClr val="00D1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629436-AEA4-EC13-7B69-5908C5416873}"/>
                  </a:ext>
                </a:extLst>
              </p:cNvPr>
              <p:cNvSpPr txBox="1"/>
              <p:nvPr/>
            </p:nvSpPr>
            <p:spPr>
              <a:xfrm>
                <a:off x="5904820" y="4726286"/>
                <a:ext cx="4119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3600" b="1" dirty="0"/>
                  <a:t>3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63365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D352E-AB4A-2A2A-C5DA-06166B41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00" y="574186"/>
            <a:ext cx="10209600" cy="484748"/>
          </a:xfrm>
        </p:spPr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RAG-Enhanced AI Assignment via Orchestration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0AB50-C9D6-2A01-C06E-3597E901AAC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56204"/>
          <a:stretch>
            <a:fillRect/>
          </a:stretch>
        </p:blipFill>
        <p:spPr>
          <a:xfrm>
            <a:off x="732676" y="3506875"/>
            <a:ext cx="2030621" cy="186899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43225A5-9DF9-9689-26D5-D8ADBA3E93AB}"/>
              </a:ext>
            </a:extLst>
          </p:cNvPr>
          <p:cNvGrpSpPr/>
          <p:nvPr/>
        </p:nvGrpSpPr>
        <p:grpSpPr>
          <a:xfrm>
            <a:off x="732676" y="2371411"/>
            <a:ext cx="2322023" cy="3356149"/>
            <a:chOff x="732676" y="2371411"/>
            <a:chExt cx="2322023" cy="335614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9538608-D66D-C768-3610-B970E9B46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32676" y="2371411"/>
              <a:ext cx="2322023" cy="105758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7D3DEF3-48C5-F34A-7C50-E9648CB3F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32676" y="3506876"/>
              <a:ext cx="2100959" cy="2220684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8212051-DAAC-88EB-3D41-DF38F9190569}"/>
                </a:ext>
              </a:extLst>
            </p:cNvPr>
            <p:cNvSpPr/>
            <p:nvPr/>
          </p:nvSpPr>
          <p:spPr>
            <a:xfrm>
              <a:off x="1667171" y="2913172"/>
              <a:ext cx="513320" cy="513320"/>
            </a:xfrm>
            <a:prstGeom prst="ellipse">
              <a:avLst/>
            </a:prstGeom>
            <a:solidFill>
              <a:srgbClr val="204E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32D5086-983A-0DC2-FE4E-80C5696B7DF0}"/>
              </a:ext>
            </a:extLst>
          </p:cNvPr>
          <p:cNvGrpSpPr/>
          <p:nvPr/>
        </p:nvGrpSpPr>
        <p:grpSpPr>
          <a:xfrm>
            <a:off x="2753246" y="1305433"/>
            <a:ext cx="2030621" cy="4422127"/>
            <a:chOff x="2753246" y="1305433"/>
            <a:chExt cx="2030621" cy="442212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FAAA7D-64FF-24B0-58A2-F08B4917E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753246" y="1343965"/>
              <a:ext cx="2030621" cy="105758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D00700B-B26A-287D-8B4B-15019346F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753246" y="3506876"/>
              <a:ext cx="1839704" cy="2220684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593E7C6-3E8E-724D-1A52-94400DFC4CCE}"/>
                </a:ext>
              </a:extLst>
            </p:cNvPr>
            <p:cNvSpPr/>
            <p:nvPr/>
          </p:nvSpPr>
          <p:spPr>
            <a:xfrm>
              <a:off x="3373107" y="1305433"/>
              <a:ext cx="513320" cy="513320"/>
            </a:xfrm>
            <a:prstGeom prst="ellipse">
              <a:avLst/>
            </a:prstGeom>
            <a:solidFill>
              <a:srgbClr val="0AB6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0200E23-4801-B10D-BDF3-52585B42FE8B}"/>
              </a:ext>
            </a:extLst>
          </p:cNvPr>
          <p:cNvGrpSpPr/>
          <p:nvPr/>
        </p:nvGrpSpPr>
        <p:grpSpPr>
          <a:xfrm>
            <a:off x="4463178" y="2280976"/>
            <a:ext cx="2030622" cy="3446584"/>
            <a:chOff x="4463178" y="2280976"/>
            <a:chExt cx="2030622" cy="344658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F59094A-DBED-AD0B-71FD-3D613B7EB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463179" y="2280976"/>
              <a:ext cx="2030621" cy="56898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7B2AEA6-CC44-6471-5F78-684ADEC78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463178" y="3506876"/>
              <a:ext cx="1657975" cy="2220684"/>
            </a:xfrm>
            <a:prstGeom prst="rect">
              <a:avLst/>
            </a:prstGeom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FD4A79B-93BA-98FF-1947-E4750B741720}"/>
                </a:ext>
              </a:extLst>
            </p:cNvPr>
            <p:cNvSpPr/>
            <p:nvPr/>
          </p:nvSpPr>
          <p:spPr>
            <a:xfrm>
              <a:off x="5059333" y="2351311"/>
              <a:ext cx="513320" cy="513320"/>
            </a:xfrm>
            <a:prstGeom prst="ellipse">
              <a:avLst/>
            </a:prstGeom>
            <a:solidFill>
              <a:srgbClr val="00D1A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2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54809AF-C3DE-169E-C67B-BBD9F5FF13D0}"/>
              </a:ext>
            </a:extLst>
          </p:cNvPr>
          <p:cNvGrpSpPr/>
          <p:nvPr/>
        </p:nvGrpSpPr>
        <p:grpSpPr>
          <a:xfrm>
            <a:off x="6029005" y="1798657"/>
            <a:ext cx="2162961" cy="3928903"/>
            <a:chOff x="6029005" y="1798657"/>
            <a:chExt cx="2162961" cy="392890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799670-1F66-81C5-5029-F643A72E3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161345" y="1798657"/>
              <a:ext cx="2030621" cy="84406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91EA30F-A490-5329-950E-E2FB190B2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029005" y="3506876"/>
              <a:ext cx="1657975" cy="2220684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67F2BDA-92A5-0571-304A-09BCD1683D39}"/>
                </a:ext>
              </a:extLst>
            </p:cNvPr>
            <p:cNvSpPr/>
            <p:nvPr/>
          </p:nvSpPr>
          <p:spPr>
            <a:xfrm>
              <a:off x="6757511" y="1835800"/>
              <a:ext cx="513320" cy="513320"/>
            </a:xfrm>
            <a:prstGeom prst="ellipse">
              <a:avLst/>
            </a:prstGeom>
            <a:solidFill>
              <a:srgbClr val="FFC1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B07B4A-2EDF-9A52-8D90-FC4B3851CC03}"/>
              </a:ext>
            </a:extLst>
          </p:cNvPr>
          <p:cNvGrpSpPr/>
          <p:nvPr/>
        </p:nvGrpSpPr>
        <p:grpSpPr>
          <a:xfrm>
            <a:off x="7594831" y="2371411"/>
            <a:ext cx="2030621" cy="3356149"/>
            <a:chOff x="7594831" y="2371411"/>
            <a:chExt cx="2030621" cy="335614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C785E8E-002D-C5BF-7871-DAFDFB8BD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594831" y="2371411"/>
              <a:ext cx="2030621" cy="113546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54EA19A-5460-C648-9CA4-0BAADC0CA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766509" y="3506876"/>
              <a:ext cx="1657975" cy="2220684"/>
            </a:xfrm>
            <a:prstGeom prst="rect">
              <a:avLst/>
            </a:prstGeom>
          </p:spPr>
        </p:pic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8BAE2D8-F3DD-511A-9A9E-900C1F3E7473}"/>
                </a:ext>
              </a:extLst>
            </p:cNvPr>
            <p:cNvSpPr/>
            <p:nvPr/>
          </p:nvSpPr>
          <p:spPr>
            <a:xfrm>
              <a:off x="8469039" y="2900208"/>
              <a:ext cx="513320" cy="513320"/>
            </a:xfrm>
            <a:prstGeom prst="ellipse">
              <a:avLst/>
            </a:prstGeom>
            <a:solidFill>
              <a:srgbClr val="FE7D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4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69A5E80-DCEA-0691-71A5-A1BF5C6C1F10}"/>
              </a:ext>
            </a:extLst>
          </p:cNvPr>
          <p:cNvGrpSpPr/>
          <p:nvPr/>
        </p:nvGrpSpPr>
        <p:grpSpPr>
          <a:xfrm>
            <a:off x="9313608" y="1230925"/>
            <a:ext cx="2030621" cy="4496635"/>
            <a:chOff x="9313608" y="1230925"/>
            <a:chExt cx="2030621" cy="449663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24DFF2E-5990-2B42-935D-418716CA2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313608" y="1230925"/>
              <a:ext cx="2030621" cy="113546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B265CC8-9C91-45DE-224D-F8847550B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598209" y="3506876"/>
              <a:ext cx="1657975" cy="2220684"/>
            </a:xfrm>
            <a:prstGeom prst="rect">
              <a:avLst/>
            </a:prstGeom>
          </p:spPr>
        </p:pic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6E856A-BFDA-0A9E-B3F9-CD6F31D659A2}"/>
                </a:ext>
              </a:extLst>
            </p:cNvPr>
            <p:cNvSpPr/>
            <p:nvPr/>
          </p:nvSpPr>
          <p:spPr>
            <a:xfrm>
              <a:off x="10170536" y="1312433"/>
              <a:ext cx="513320" cy="513320"/>
            </a:xfrm>
            <a:prstGeom prst="ellipse">
              <a:avLst/>
            </a:prstGeom>
            <a:solidFill>
              <a:srgbClr val="193E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5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7506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A010-1363-BBC7-F45C-B770E137E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00" y="89438"/>
            <a:ext cx="10209600" cy="969496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The RAG Engine: Grounding Decisions in Expert Knowledge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7E4299-E0CD-EFDE-08CA-BD92F942A7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>
          <a:xfrm>
            <a:off x="2974848" y="1256342"/>
            <a:ext cx="8259629" cy="16219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AE69BD-6934-0013-F6BC-ED292217239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>
            <a:fillRect/>
          </a:stretch>
        </p:blipFill>
        <p:spPr>
          <a:xfrm>
            <a:off x="3044651" y="2878282"/>
            <a:ext cx="8189826" cy="1492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0CE4DD-F477-A8EE-F5FF-E95F01C6D18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2672"/>
          <a:stretch>
            <a:fillRect/>
          </a:stretch>
        </p:blipFill>
        <p:spPr>
          <a:xfrm>
            <a:off x="2974848" y="4240404"/>
            <a:ext cx="8259629" cy="174841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7537980-A86E-B053-D595-D13D4F747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3200" y="3007532"/>
            <a:ext cx="1961742" cy="1103622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7A8EFF-309E-FF35-8E9F-56AF8C9E665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3200" y="4562011"/>
            <a:ext cx="1962000" cy="1105200"/>
          </a:xfrm>
          <a:prstGeom prst="rect">
            <a:avLst/>
          </a:prstGeom>
        </p:spPr>
      </p:pic>
      <p:pic>
        <p:nvPicPr>
          <p:cNvPr id="1026" name="Picture 2" descr="The Rise of AI in Decision Making: Evaluating Top Online Decision Tree  Tools - The Data Scientist">
            <a:extLst>
              <a:ext uri="{FF2B5EF4-FFF2-40B4-BE49-F238E27FC236}">
                <a16:creationId xmlns:a16="http://schemas.microsoft.com/office/drawing/2014/main" id="{508444DE-A459-1B91-4FFA-9863F3A1429D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3200" y="1514712"/>
            <a:ext cx="1994400" cy="11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75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9C7E-9DDF-9F18-C67F-E3CE6546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00" y="574675"/>
            <a:ext cx="10058400" cy="48418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Demo: Assignment group decision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89E290-ACFB-482A-79E2-D3C3682F09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3363" y="1677988"/>
            <a:ext cx="6705600" cy="4191000"/>
          </a:xfrm>
        </p:spPr>
      </p:pic>
    </p:spTree>
    <p:extLst>
      <p:ext uri="{BB962C8B-B14F-4D97-AF65-F5344CB8AC3E}">
        <p14:creationId xmlns:p14="http://schemas.microsoft.com/office/powerpoint/2010/main" val="3889476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991F10E-05A1-8F45-F76E-6D38FAC88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00" y="574186"/>
            <a:ext cx="10058400" cy="484748"/>
          </a:xfrm>
        </p:spPr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Demo: respective team details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BA3BED-7B87-1A2A-39F6-AEB80D634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73363" y="1677988"/>
            <a:ext cx="6705600" cy="4191000"/>
          </a:xfrm>
        </p:spPr>
      </p:pic>
    </p:spTree>
    <p:extLst>
      <p:ext uri="{BB962C8B-B14F-4D97-AF65-F5344CB8AC3E}">
        <p14:creationId xmlns:p14="http://schemas.microsoft.com/office/powerpoint/2010/main" val="3571554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426C31-B5FF-69EC-F8E1-5399CE159CCF}"/>
              </a:ext>
            </a:extLst>
          </p:cNvPr>
          <p:cNvSpPr txBox="1"/>
          <p:nvPr/>
        </p:nvSpPr>
        <p:spPr>
          <a:xfrm>
            <a:off x="914400" y="1266092"/>
            <a:ext cx="8601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Stop Rerouting, Start Resolving…</a:t>
            </a:r>
            <a:endParaRPr lang="en-IN" sz="36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57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BE7D9A-87FA-BDE6-68C7-91A479D1E520}"/>
              </a:ext>
            </a:extLst>
          </p:cNvPr>
          <p:cNvSpPr txBox="1"/>
          <p:nvPr/>
        </p:nvSpPr>
        <p:spPr>
          <a:xfrm>
            <a:off x="2893925" y="2924070"/>
            <a:ext cx="5265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61756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{E54123D4-C7BB-44AC-ADC7-E000440713FE}tf11437505_win32</Template>
  <TotalTime>287</TotalTime>
  <Words>86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RetrospectVTI</vt:lpstr>
      <vt:lpstr>Eliminating Manual Handoffs with AI Orchestration</vt:lpstr>
      <vt:lpstr>Challenge: The Silent Productivity Killer &gt; Miss-Routed Incidents</vt:lpstr>
      <vt:lpstr>Eliminate Functional Escalation with Intelligent Triage</vt:lpstr>
      <vt:lpstr>RAG-Enhanced AI Assignment via Orchestration</vt:lpstr>
      <vt:lpstr>The RAG Engine: Grounding Decisions in Expert Knowledge</vt:lpstr>
      <vt:lpstr>Demo: Assignment group decision</vt:lpstr>
      <vt:lpstr>Demo: respective team details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Eliminating Manual Handoffs with AI Orchestration</dc:title>
  <dc:creator>andrew njarackal</dc:creator>
  <cp:lastModifiedBy>Muhammed Shebin V A</cp:lastModifiedBy>
  <cp:revision>5</cp:revision>
  <dcterms:created xsi:type="dcterms:W3CDTF">2025-12-14T22:52:40Z</dcterms:created>
  <dcterms:modified xsi:type="dcterms:W3CDTF">2025-12-15T05:11:58Z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